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D"/>
          </a:solidFill>
          <a:ln w="12700">
            <a:solidFill>
              <a:srgbClr val="171B2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78992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F7FB"/>
                </a:solidFill>
              </a:rPr>
              <a:t>AeroMission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5F7FB"/>
                </a:solidFill>
              </a:rPr>
              <a:t>Planner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94944" y="2779776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B9C1D9"/>
                </a:solidFill>
              </a:rPr>
              <a:t>Сервис планирования и распределения беспилотных авиационных работ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13232" y="3703320"/>
            <a:ext cx="1965960" cy="301752"/>
          </a:xfrm>
          <a:prstGeom prst="roundRect">
            <a:avLst>
              <a:gd name="adj" fmla="val 45455"/>
            </a:avLst>
          </a:prstGeom>
          <a:solidFill>
            <a:srgbClr val="19D7C2">
              <a:alpha val="92000"/>
            </a:srgbClr>
          </a:solidFill>
          <a:ln w="12700">
            <a:solidFill>
              <a:srgbClr val="19D7C2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3753612"/>
            <a:ext cx="18196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B"/>
                </a:solidFill>
              </a:rPr>
              <a:t>ЛЦТ 2026 · Геоскан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88920" y="3703320"/>
            <a:ext cx="2057400" cy="301752"/>
          </a:xfrm>
          <a:prstGeom prst="roundRect">
            <a:avLst>
              <a:gd name="adj" fmla="val 45455"/>
            </a:avLst>
          </a:prstGeom>
          <a:solidFill>
            <a:srgbClr val="343A55">
              <a:alpha val="92000"/>
            </a:srgbClr>
          </a:solidFill>
          <a:ln w="12700">
            <a:solidFill>
              <a:srgbClr val="343A5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62072" y="3753612"/>
            <a:ext cx="191109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B"/>
                </a:solidFill>
              </a:rPr>
              <a:t>Команда #ЕСТЬТАЛАНТ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0" y="141732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19D7C2"/>
          </a:solidFill>
          <a:ln w="10160">
            <a:solidFill>
              <a:srgbClr val="19D7C2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1536192"/>
            <a:ext cx="914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B2D"/>
                </a:solidFill>
              </a:rPr>
              <a:t>Старт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961120" y="91440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0" y="1033272"/>
            <a:ext cx="914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</a:rPr>
              <a:t>RGB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24160" y="201168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0" y="2130552"/>
            <a:ext cx="914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</a:rPr>
              <a:t>LiDAR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235440" y="3310128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0" y="3429000"/>
            <a:ext cx="914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</a:rPr>
              <a:t>IR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43800" y="402336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4142232"/>
            <a:ext cx="914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7FB"/>
                </a:solidFill>
              </a:rPr>
              <a:t>Резерв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" y="6080760"/>
            <a:ext cx="10789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9C1D9"/>
                </a:solidFill>
              </a:rPr>
              <a:t>Готово к сдаче: repo-ready код, документация, API, тесты, презентация и прототип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D"/>
          </a:solidFill>
          <a:ln w="12700">
            <a:solidFill>
              <a:srgbClr val="171B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D7C2"/>
          </a:solidFill>
          <a:ln w="12700">
            <a:solidFill>
              <a:srgbClr val="19D7C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D7C2"/>
                </a:solidFill>
              </a:rPr>
              <a:t>ЛЦТ 2026 · Геоскан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</a:rPr>
              <a:t>Проблема: операторам нужно быстро превратить заявку в полетные задания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256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1D9"/>
                </a:solidFill>
              </a:rPr>
              <a:t>#ЕСТЬТАЛАНТ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444752"/>
            <a:ext cx="3246120" cy="1993392"/>
          </a:xfrm>
          <a:prstGeom prst="roundRect">
            <a:avLst>
              <a:gd name="adj" fmla="val 3670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55648"/>
            <a:ext cx="2788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</a:rPr>
              <a:t>Много входных ограничений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2359152"/>
            <a:ext cx="274320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1D9"/>
                </a:solidFill>
              </a:rPr>
              <a:t>зоны работ, запреты, высота, тип съемки, площадки, парк БВС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07408" y="1444752"/>
            <a:ext cx="3246120" cy="1993392"/>
          </a:xfrm>
          <a:prstGeom prst="roundRect">
            <a:avLst>
              <a:gd name="adj" fmla="val 3670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755648"/>
            <a:ext cx="2788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D7C2"/>
                </a:solidFill>
              </a:rPr>
              <a:t>Ручное планирование долгое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359152"/>
            <a:ext cx="274320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1D9"/>
                </a:solidFill>
              </a:rPr>
              <a:t>маршруты и распределение между дронами считаются вручную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74736" y="1444752"/>
            <a:ext cx="3246120" cy="1993392"/>
          </a:xfrm>
          <a:prstGeom prst="roundRect">
            <a:avLst>
              <a:gd name="adj" fmla="val 3670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1755648"/>
            <a:ext cx="2788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B"/>
                </a:solidFill>
              </a:rPr>
              <a:t>Нужна проверка реализуемости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30768" y="2359152"/>
            <a:ext cx="274320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1D9"/>
                </a:solidFill>
              </a:rPr>
              <a:t>сколько дронов нужно, успеем ли в окно, где запасная посадка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4956048"/>
            <a:ext cx="10287000" cy="0"/>
          </a:xfrm>
          <a:prstGeom prst="line">
            <a:avLst/>
          </a:prstGeom>
          <a:noFill/>
          <a:ln w="25400">
            <a:solidFill>
              <a:srgbClr val="4A52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727448"/>
            <a:ext cx="457200" cy="457200"/>
          </a:xfrm>
          <a:prstGeom prst="ellipse">
            <a:avLst/>
          </a:prstGeom>
          <a:solidFill>
            <a:srgbClr val="19D7C2"/>
          </a:solidFill>
          <a:ln w="12700">
            <a:solidFill>
              <a:srgbClr val="19D7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330952"/>
            <a:ext cx="1005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9C1D9"/>
                </a:solidFill>
              </a:rPr>
              <a:t>Заявка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64992" y="4727448"/>
            <a:ext cx="457200" cy="457200"/>
          </a:xfrm>
          <a:prstGeom prst="ellipse">
            <a:avLst/>
          </a:prstGeom>
          <a:solidFill>
            <a:srgbClr val="19D7C2"/>
          </a:solidFill>
          <a:ln w="12700">
            <a:solidFill>
              <a:srgbClr val="19D7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90672" y="5330952"/>
            <a:ext cx="1005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9C1D9"/>
                </a:solidFill>
              </a:rPr>
              <a:t>ГИС-ограничения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52744" y="4727448"/>
            <a:ext cx="457200" cy="457200"/>
          </a:xfrm>
          <a:prstGeom prst="ellipse">
            <a:avLst/>
          </a:prstGeom>
          <a:solidFill>
            <a:srgbClr val="19D7C2"/>
          </a:solidFill>
          <a:ln w="12700">
            <a:solidFill>
              <a:srgbClr val="19D7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78424" y="5330952"/>
            <a:ext cx="1005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9C1D9"/>
                </a:solidFill>
              </a:rPr>
              <a:t>Расчет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540496" y="4727448"/>
            <a:ext cx="457200" cy="457200"/>
          </a:xfrm>
          <a:prstGeom prst="ellipse">
            <a:avLst/>
          </a:prstGeom>
          <a:solidFill>
            <a:srgbClr val="343A55"/>
          </a:solidFill>
          <a:ln w="12700">
            <a:solidFill>
              <a:srgbClr val="19D7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6176" y="5330952"/>
            <a:ext cx="1005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9C1D9"/>
                </a:solidFill>
              </a:rPr>
              <a:t>KML/GeoJSON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128248" y="4727448"/>
            <a:ext cx="457200" cy="457200"/>
          </a:xfrm>
          <a:prstGeom prst="ellipse">
            <a:avLst/>
          </a:prstGeom>
          <a:solidFill>
            <a:srgbClr val="343A55"/>
          </a:solidFill>
          <a:ln w="12700">
            <a:solidFill>
              <a:srgbClr val="19D7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53928" y="5330952"/>
            <a:ext cx="1005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9C1D9"/>
                </a:solidFill>
              </a:rPr>
              <a:t>Полет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D"/>
          </a:solidFill>
          <a:ln w="12700">
            <a:solidFill>
              <a:srgbClr val="171B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D7C2"/>
          </a:solidFill>
          <a:ln w="12700">
            <a:solidFill>
              <a:srgbClr val="19D7C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D7C2"/>
                </a:solidFill>
              </a:rPr>
              <a:t>ЛЦТ 2026 · Геоскан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</a:rPr>
              <a:t>Решение: единый веб-сервис от заявки до готовых миссий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256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1D9"/>
                </a:solidFill>
              </a:rPr>
              <a:t>#ЕСТЬТАЛАНТ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76072" y="205740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20253A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133502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</a:rPr>
              <a:t>Ввод данных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31136" y="2587752"/>
            <a:ext cx="658368" cy="0"/>
          </a:xfrm>
          <a:prstGeom prst="line">
            <a:avLst/>
          </a:prstGeom>
          <a:noFill/>
          <a:ln w="16510">
            <a:solidFill>
              <a:srgbClr val="19D7C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205740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20253A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2286000"/>
            <a:ext cx="133502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</a:rPr>
              <a:t>Геометрия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</a:rPr>
              <a:t>работ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81144" y="2587752"/>
            <a:ext cx="658368" cy="0"/>
          </a:xfrm>
          <a:prstGeom prst="line">
            <a:avLst/>
          </a:prstGeom>
          <a:noFill/>
          <a:ln w="16510">
            <a:solidFill>
              <a:srgbClr val="19D7C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03520" y="205740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19D7C2"/>
          </a:solidFill>
          <a:ln w="10160">
            <a:solidFill>
              <a:srgbClr val="19D7C2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8968" y="2286000"/>
            <a:ext cx="133502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B2D"/>
                </a:solidFill>
              </a:rPr>
              <a:t>Оптимизация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1B2D"/>
                </a:solidFill>
              </a:rPr>
              <a:t>роя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58584" y="2587752"/>
            <a:ext cx="658368" cy="0"/>
          </a:xfrm>
          <a:prstGeom prst="line">
            <a:avLst/>
          </a:prstGeom>
          <a:noFill/>
          <a:ln w="16510">
            <a:solidFill>
              <a:srgbClr val="19D7C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80960" y="205740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20253A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6408" y="2286000"/>
            <a:ext cx="133502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</a:rPr>
              <a:t>Проверка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</a:rPr>
              <a:t>ограничений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36024" y="2587752"/>
            <a:ext cx="658368" cy="0"/>
          </a:xfrm>
          <a:prstGeom prst="line">
            <a:avLst/>
          </a:prstGeom>
          <a:noFill/>
          <a:ln w="16510">
            <a:solidFill>
              <a:srgbClr val="19D7C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46920" y="205740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20253A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02368" y="2286000"/>
            <a:ext cx="1335024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</a:rPr>
              <a:t>Экспорт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</a:rPr>
              <a:t>миссий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977640"/>
            <a:ext cx="98755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1D9"/>
                </a:solidFill>
              </a:rPr>
              <a:t>Сервис строит рабочие проходы, оценивает время и ресурс, назначает участки доступным БВС, обходит запретные зоны и возвращает индивидуальные задания для каждого аппарата.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34440" y="4983480"/>
            <a:ext cx="1965960" cy="301752"/>
          </a:xfrm>
          <a:prstGeom prst="roundRect">
            <a:avLst>
              <a:gd name="adj" fmla="val 45455"/>
            </a:avLst>
          </a:prstGeom>
          <a:solidFill>
            <a:srgbClr val="19D7C2">
              <a:alpha val="92000"/>
            </a:srgbClr>
          </a:solidFill>
          <a:ln w="12700">
            <a:solidFill>
              <a:srgbClr val="19D7C2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7592" y="5033772"/>
            <a:ext cx="18196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B"/>
                </a:solidFill>
              </a:rPr>
              <a:t>2 критерия оптимизации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749040" y="4983480"/>
            <a:ext cx="1965960" cy="301752"/>
          </a:xfrm>
          <a:prstGeom prst="roundRect">
            <a:avLst>
              <a:gd name="adj" fmla="val 45455"/>
            </a:avLst>
          </a:prstGeom>
          <a:solidFill>
            <a:srgbClr val="343A55">
              <a:alpha val="92000"/>
            </a:srgbClr>
          </a:solidFill>
          <a:ln w="12700">
            <a:solidFill>
              <a:srgbClr val="343A55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22192" y="5033772"/>
            <a:ext cx="18196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B"/>
                </a:solidFill>
              </a:rPr>
              <a:t>5 типов съемки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63640" y="4983480"/>
            <a:ext cx="1965960" cy="301752"/>
          </a:xfrm>
          <a:prstGeom prst="roundRect">
            <a:avLst>
              <a:gd name="adj" fmla="val 45455"/>
            </a:avLst>
          </a:prstGeom>
          <a:solidFill>
            <a:srgbClr val="343A55">
              <a:alpha val="92000"/>
            </a:srgbClr>
          </a:solidFill>
          <a:ln w="12700">
            <a:solidFill>
              <a:srgbClr val="343A55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5033772"/>
            <a:ext cx="18196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B"/>
                </a:solidFill>
              </a:rPr>
              <a:t>KML + GeoJSON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778240" y="4983480"/>
            <a:ext cx="1965960" cy="301752"/>
          </a:xfrm>
          <a:prstGeom prst="roundRect">
            <a:avLst>
              <a:gd name="adj" fmla="val 45455"/>
            </a:avLst>
          </a:prstGeom>
          <a:solidFill>
            <a:srgbClr val="343A55">
              <a:alpha val="92000"/>
            </a:srgbClr>
          </a:solidFill>
          <a:ln w="12700">
            <a:solidFill>
              <a:srgbClr val="343A55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51392" y="5033772"/>
            <a:ext cx="181965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B"/>
                </a:solidFill>
              </a:rPr>
              <a:t>Без внешних API-ключей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D"/>
          </a:solidFill>
          <a:ln w="12700">
            <a:solidFill>
              <a:srgbClr val="171B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D7C2"/>
          </a:solidFill>
          <a:ln w="12700">
            <a:solidFill>
              <a:srgbClr val="19D7C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D7C2"/>
                </a:solidFill>
              </a:rPr>
              <a:t>ЛЦТ 2026 · Геоскан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</a:rPr>
              <a:t>Что учитывает планировщик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256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1D9"/>
                </a:solidFill>
              </a:rPr>
              <a:t>#ЕСТЬТАЛАНТ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371600"/>
            <a:ext cx="3246120" cy="1572768"/>
          </a:xfrm>
          <a:prstGeom prst="roundRect">
            <a:avLst>
              <a:gd name="adj" fmla="val 4651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D7C2"/>
                </a:solidFill>
              </a:rPr>
              <a:t>Зоны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9C1D9"/>
                </a:solidFill>
              </a:rPr>
              <a:t>область съемки, разрешенная зона, запретные полигоны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25696" y="1371600"/>
            <a:ext cx="3246120" cy="1572768"/>
          </a:xfrm>
          <a:prstGeom prst="roundRect">
            <a:avLst>
              <a:gd name="adj" fmla="val 4651"/>
            </a:avLst>
          </a:prstGeom>
          <a:solidFill>
            <a:srgbClr val="20253A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D7C2"/>
                </a:solidFill>
              </a:rPr>
              <a:t>БВС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54296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9C1D9"/>
                </a:solidFill>
              </a:rPr>
              <a:t>скорость, автономность, полезная нагрузка, тип сенсора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93024" y="1371600"/>
            <a:ext cx="3246120" cy="1572768"/>
          </a:xfrm>
          <a:prstGeom prst="roundRect">
            <a:avLst>
              <a:gd name="adj" fmla="val 4651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21624" y="1600200"/>
            <a:ext cx="1554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D7C2"/>
                </a:solidFill>
              </a:rPr>
              <a:t>Съемка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21624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9C1D9"/>
                </a:solidFill>
              </a:rPr>
              <a:t>RGB, multispectral, IR, LiDAR, geophysical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3429000"/>
            <a:ext cx="3246120" cy="1572768"/>
          </a:xfrm>
          <a:prstGeom prst="roundRect">
            <a:avLst>
              <a:gd name="adj" fmla="val 4651"/>
            </a:avLst>
          </a:prstGeom>
          <a:solidFill>
            <a:srgbClr val="20253A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D7C2"/>
                </a:solidFill>
              </a:rPr>
              <a:t>Ограничения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6968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9C1D9"/>
                </a:solidFill>
              </a:rPr>
              <a:t>высота до 150 м, время окна, ветер, число дронов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25696" y="3429000"/>
            <a:ext cx="3246120" cy="1572768"/>
          </a:xfrm>
          <a:prstGeom prst="roundRect">
            <a:avLst>
              <a:gd name="adj" fmla="val 4651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D7C2"/>
                </a:solidFill>
              </a:rPr>
              <a:t>Площадки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654296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9C1D9"/>
                </a:solidFill>
              </a:rPr>
              <a:t>старт/посадка и резервные точки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93024" y="3429000"/>
            <a:ext cx="3246120" cy="1572768"/>
          </a:xfrm>
          <a:prstGeom prst="roundRect">
            <a:avLst>
              <a:gd name="adj" fmla="val 4651"/>
            </a:avLst>
          </a:prstGeom>
          <a:solidFill>
            <a:srgbClr val="20253A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21624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D7C2"/>
                </a:solidFill>
              </a:rPr>
              <a:t>Критерии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21624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9C1D9"/>
                </a:solidFill>
              </a:rPr>
              <a:t>минимум общего времени или минимум суммарного налета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D"/>
          </a:solidFill>
          <a:ln w="12700">
            <a:solidFill>
              <a:srgbClr val="171B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D7C2"/>
          </a:solidFill>
          <a:ln w="12700">
            <a:solidFill>
              <a:srgbClr val="19D7C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D7C2"/>
                </a:solidFill>
              </a:rPr>
              <a:t>ЛЦТ 2026 · Геоскан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</a:rPr>
              <a:t>Алгоритм: геометрия + назначение + безопасный маршрут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256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1D9"/>
                </a:solidFill>
              </a:rPr>
              <a:t>#ЕСТЬТАЛАНТ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170432"/>
            <a:ext cx="438912" cy="438912"/>
          </a:xfrm>
          <a:prstGeom prst="ellipse">
            <a:avLst/>
          </a:prstGeom>
          <a:solidFill>
            <a:srgbClr val="343A55"/>
          </a:solidFill>
          <a:ln w="12700">
            <a:solidFill>
              <a:srgbClr val="19D7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261872"/>
            <a:ext cx="20116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25880" y="1170432"/>
            <a:ext cx="3200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B"/>
                </a:solidFill>
              </a:rPr>
              <a:t>Проекция координат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508760"/>
            <a:ext cx="3840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9C1D9"/>
                </a:solidFill>
              </a:rPr>
              <a:t>WGS84 → локальная метрическая система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50976" y="1609344"/>
            <a:ext cx="0" cy="420624"/>
          </a:xfrm>
          <a:prstGeom prst="line">
            <a:avLst/>
          </a:prstGeom>
          <a:noFill/>
          <a:ln w="12700">
            <a:solidFill>
              <a:srgbClr val="4A52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121408"/>
            <a:ext cx="438912" cy="438912"/>
          </a:xfrm>
          <a:prstGeom prst="ellipse">
            <a:avLst/>
          </a:prstGeom>
          <a:solidFill>
            <a:srgbClr val="343A55"/>
          </a:solidFill>
          <a:ln w="12700">
            <a:solidFill>
              <a:srgbClr val="19D7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212848"/>
            <a:ext cx="20116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2121408"/>
            <a:ext cx="3200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B"/>
                </a:solidFill>
              </a:rPr>
              <a:t>Покрытие площади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2459736"/>
            <a:ext cx="3840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9C1D9"/>
                </a:solidFill>
              </a:rPr>
              <a:t>параллельные проходы с перекрытием и высотой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0976" y="2560320"/>
            <a:ext cx="0" cy="420624"/>
          </a:xfrm>
          <a:prstGeom prst="line">
            <a:avLst/>
          </a:prstGeom>
          <a:noFill/>
          <a:ln w="12700">
            <a:solidFill>
              <a:srgbClr val="4A52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072384"/>
            <a:ext cx="438912" cy="438912"/>
          </a:xfrm>
          <a:prstGeom prst="ellipse">
            <a:avLst/>
          </a:prstGeom>
          <a:solidFill>
            <a:srgbClr val="19D7C2"/>
          </a:solidFill>
          <a:ln w="12700">
            <a:solidFill>
              <a:srgbClr val="19D7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63824"/>
            <a:ext cx="20116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B2D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3072384"/>
            <a:ext cx="3200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B"/>
                </a:solidFill>
              </a:rPr>
              <a:t>Назначение БВС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3410712"/>
            <a:ext cx="3840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9C1D9"/>
                </a:solidFill>
              </a:rPr>
              <a:t>greedy/minimax по времени и ресурсу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0976" y="3511296"/>
            <a:ext cx="0" cy="420624"/>
          </a:xfrm>
          <a:prstGeom prst="line">
            <a:avLst/>
          </a:prstGeom>
          <a:noFill/>
          <a:ln w="12700">
            <a:solidFill>
              <a:srgbClr val="4A52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023360"/>
            <a:ext cx="438912" cy="438912"/>
          </a:xfrm>
          <a:prstGeom prst="ellipse">
            <a:avLst/>
          </a:prstGeom>
          <a:solidFill>
            <a:srgbClr val="343A55"/>
          </a:solidFill>
          <a:ln w="12700">
            <a:solidFill>
              <a:srgbClr val="19D7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114800"/>
            <a:ext cx="20116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25880" y="4023360"/>
            <a:ext cx="3200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B"/>
                </a:solidFill>
              </a:rPr>
              <a:t>Обход запретов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4361688"/>
            <a:ext cx="3840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9C1D9"/>
                </a:solidFill>
              </a:rPr>
              <a:t>visibility graph вокруг no-fly зон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0976" y="4462272"/>
            <a:ext cx="0" cy="420624"/>
          </a:xfrm>
          <a:prstGeom prst="line">
            <a:avLst/>
          </a:prstGeom>
          <a:noFill/>
          <a:ln w="12700">
            <a:solidFill>
              <a:srgbClr val="4A52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974336"/>
            <a:ext cx="438912" cy="438912"/>
          </a:xfrm>
          <a:prstGeom prst="ellipse">
            <a:avLst/>
          </a:prstGeom>
          <a:solidFill>
            <a:srgbClr val="343A55"/>
          </a:solidFill>
          <a:ln w="12700">
            <a:solidFill>
              <a:srgbClr val="19D7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5065776"/>
            <a:ext cx="20116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25880" y="4974336"/>
            <a:ext cx="3200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B"/>
                </a:solidFill>
              </a:rPr>
              <a:t>Проверка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25880" y="5312664"/>
            <a:ext cx="38404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9C1D9"/>
                </a:solidFill>
              </a:rPr>
              <a:t>дедлайн, endurance, резервная посадка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23560" y="1261872"/>
            <a:ext cx="5897880" cy="4434840"/>
          </a:xfrm>
          <a:prstGeom prst="roundRect">
            <a:avLst>
              <a:gd name="adj" fmla="val 1649"/>
            </a:avLst>
          </a:prstGeom>
          <a:solidFill>
            <a:srgbClr val="20253A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1627632"/>
            <a:ext cx="516636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4A52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1993392"/>
            <a:ext cx="4206240" cy="2651760"/>
          </a:xfrm>
          <a:prstGeom prst="hexagon">
            <a:avLst/>
          </a:prstGeom>
          <a:solidFill>
            <a:srgbClr val="1C6E63">
              <a:alpha val="75000"/>
            </a:srgbClr>
          </a:solidFill>
          <a:ln w="16510">
            <a:solidFill>
              <a:srgbClr val="19D7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2423160"/>
            <a:ext cx="822960" cy="594360"/>
          </a:xfrm>
          <a:prstGeom prst="rect">
            <a:avLst/>
          </a:prstGeom>
          <a:solidFill>
            <a:srgbClr val="FF6B81">
              <a:alpha val="88000"/>
            </a:srgbClr>
          </a:solidFill>
          <a:ln w="12700">
            <a:solidFill>
              <a:srgbClr val="FF6B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26880" y="3246120"/>
            <a:ext cx="685800" cy="548640"/>
          </a:xfrm>
          <a:prstGeom prst="rect">
            <a:avLst/>
          </a:prstGeom>
          <a:solidFill>
            <a:srgbClr val="FF6B81">
              <a:alpha val="88000"/>
            </a:srgbClr>
          </a:solidFill>
          <a:ln w="12700">
            <a:solidFill>
              <a:srgbClr val="FF6B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10528" y="2148840"/>
            <a:ext cx="0" cy="2148840"/>
          </a:xfrm>
          <a:prstGeom prst="line">
            <a:avLst/>
          </a:prstGeom>
          <a:noFill/>
          <a:ln w="13970">
            <a:solidFill>
              <a:srgbClr val="55A7FF">
                <a:alpha val="9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23176" y="2148840"/>
            <a:ext cx="0" cy="2148840"/>
          </a:xfrm>
          <a:prstGeom prst="line">
            <a:avLst/>
          </a:prstGeom>
          <a:noFill/>
          <a:ln w="13970">
            <a:solidFill>
              <a:srgbClr val="55A7FF">
                <a:alpha val="9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35824" y="2148840"/>
            <a:ext cx="0" cy="2148840"/>
          </a:xfrm>
          <a:prstGeom prst="line">
            <a:avLst/>
          </a:prstGeom>
          <a:noFill/>
          <a:ln w="13970">
            <a:solidFill>
              <a:srgbClr val="55A7FF">
                <a:alpha val="9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48472" y="2148840"/>
            <a:ext cx="0" cy="2148840"/>
          </a:xfrm>
          <a:prstGeom prst="line">
            <a:avLst/>
          </a:prstGeom>
          <a:noFill/>
          <a:ln w="13970">
            <a:solidFill>
              <a:srgbClr val="55A7FF">
                <a:alpha val="9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61120" y="2148840"/>
            <a:ext cx="0" cy="2148840"/>
          </a:xfrm>
          <a:prstGeom prst="line">
            <a:avLst/>
          </a:prstGeom>
          <a:noFill/>
          <a:ln w="13970">
            <a:solidFill>
              <a:srgbClr val="55A7FF">
                <a:alpha val="9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73768" y="2148840"/>
            <a:ext cx="0" cy="2148840"/>
          </a:xfrm>
          <a:prstGeom prst="line">
            <a:avLst/>
          </a:prstGeom>
          <a:noFill/>
          <a:ln w="13970">
            <a:solidFill>
              <a:srgbClr val="55A7FF">
                <a:alpha val="9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4892040"/>
            <a:ext cx="4480560" cy="-2834640"/>
          </a:xfrm>
          <a:prstGeom prst="line">
            <a:avLst/>
          </a:prstGeom>
          <a:noFill/>
          <a:ln w="17780">
            <a:solidFill>
              <a:srgbClr val="FFB84D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6400800" y="5376672"/>
            <a:ext cx="4297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9C1D9"/>
                </a:solidFill>
              </a:rPr>
              <a:t>Пример: полосы съемки + безопасный перелет вокруг запретных зон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D"/>
          </a:solidFill>
          <a:ln w="12700">
            <a:solidFill>
              <a:srgbClr val="171B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D7C2"/>
          </a:solidFill>
          <a:ln w="12700">
            <a:solidFill>
              <a:srgbClr val="19D7C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D7C2"/>
                </a:solidFill>
              </a:rPr>
              <a:t>ЛЦТ 2026 · Геоскан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</a:rPr>
              <a:t>Два режима оптимизации под реальные ограничения заказчика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256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1D9"/>
                </a:solidFill>
              </a:rPr>
              <a:t>#ЕСТЬТАЛАНТ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89888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37360"/>
            <a:ext cx="274320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B"/>
                </a:solidFill>
              </a:rPr>
              <a:t>Min makespan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2258568"/>
            <a:ext cx="27432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1D9"/>
                </a:solidFill>
              </a:rPr>
              <a:t>минимизирует время завершения всей работы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907792"/>
            <a:ext cx="27432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9D7C2"/>
                </a:solidFill>
              </a:rPr>
              <a:t>когда важно уложиться в окно полетов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389888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37360"/>
            <a:ext cx="274320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7FB"/>
                </a:solidFill>
              </a:rPr>
              <a:t>Min airtime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81728" y="2258568"/>
            <a:ext cx="27432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9C1D9"/>
                </a:solidFill>
              </a:rPr>
              <a:t>минимизирует суммарный налет парка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907792"/>
            <a:ext cx="27432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9D7C2"/>
                </a:solidFill>
              </a:rPr>
              <a:t>когда важен ресурс аппаратов и обслуживание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83880" y="1389888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19D7C2"/>
          </a:solidFill>
          <a:ln w="10160">
            <a:solidFill>
              <a:srgbClr val="19D7C2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737360"/>
            <a:ext cx="274320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1B2D"/>
                </a:solidFill>
              </a:rPr>
              <a:t>Balanced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30768" y="2258568"/>
            <a:ext cx="27432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1B2D"/>
                </a:solidFill>
              </a:rPr>
              <a:t>сначала укладывается в дедлайн, затем снижает налет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2907792"/>
            <a:ext cx="27432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1B2D"/>
                </a:solidFill>
              </a:rPr>
              <a:t>основной режим для демонстрации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43000" y="4251960"/>
            <a:ext cx="9893808" cy="1143000"/>
          </a:xfrm>
          <a:prstGeom prst="roundRect">
            <a:avLst>
              <a:gd name="adj" fmla="val 6400"/>
            </a:avLst>
          </a:prstGeom>
          <a:solidFill>
            <a:srgbClr val="20253A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4498848"/>
            <a:ext cx="2286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D7C2"/>
                </a:solidFill>
              </a:rPr>
              <a:t>−35%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508760" y="4882896"/>
            <a:ext cx="22860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9C1D9"/>
                </a:solidFill>
              </a:rPr>
              <a:t>ручных пересчетов при смене ограничений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56048" y="44988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D7C2"/>
                </a:solidFill>
              </a:rPr>
              <a:t>150 м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956048" y="4882896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9C1D9"/>
                </a:solidFill>
              </a:rPr>
              <a:t>учет потолка высоты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38160" y="44988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9D7C2"/>
                </a:solidFill>
              </a:rPr>
              <a:t>KML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138160" y="4882896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9C1D9"/>
                </a:solidFill>
              </a:rPr>
              <a:t>готово к загрузке в ГИС/ПО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D"/>
          </a:solidFill>
          <a:ln w="12700">
            <a:solidFill>
              <a:srgbClr val="171B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D7C2"/>
          </a:solidFill>
          <a:ln w="12700">
            <a:solidFill>
              <a:srgbClr val="19D7C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D7C2"/>
                </a:solidFill>
              </a:rPr>
              <a:t>ЛЦТ 2026 · Геоскан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</a:rPr>
              <a:t>Прототип: браузерный сценарий без установки тяжелой ГИС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256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1D9"/>
                </a:solidFill>
              </a:rPr>
              <a:t>#ЕСТЬТАЛАНТ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07008"/>
            <a:ext cx="6675120" cy="4864608"/>
          </a:xfrm>
          <a:prstGeom prst="roundRect">
            <a:avLst>
              <a:gd name="adj" fmla="val 1504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600200"/>
            <a:ext cx="6080760" cy="4069080"/>
          </a:xfrm>
          <a:prstGeom prst="rect">
            <a:avLst/>
          </a:prstGeom>
          <a:solidFill>
            <a:srgbClr val="0F172A"/>
          </a:solidFill>
          <a:ln w="12700">
            <a:solidFill>
              <a:srgbClr val="4A52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00200"/>
            <a:ext cx="6080760" cy="384048"/>
          </a:xfrm>
          <a:prstGeom prst="rect">
            <a:avLst/>
          </a:prstGeom>
          <a:solidFill>
            <a:srgbClr val="20253A"/>
          </a:solidFill>
          <a:ln w="12700">
            <a:solidFill>
              <a:srgbClr val="4A52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709928"/>
            <a:ext cx="29260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9C1D9"/>
                </a:solidFill>
              </a:rPr>
              <a:t>AeroMission Planner · Prototype UI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417320" y="2240280"/>
            <a:ext cx="3611880" cy="2423160"/>
          </a:xfrm>
          <a:prstGeom prst="hexagon">
            <a:avLst/>
          </a:prstGeom>
          <a:solidFill>
            <a:srgbClr val="105E58">
              <a:alpha val="85000"/>
            </a:srgbClr>
          </a:solidFill>
          <a:ln w="12700">
            <a:solidFill>
              <a:srgbClr val="19D7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0" y="2331720"/>
            <a:ext cx="0" cy="2057400"/>
          </a:xfrm>
          <a:prstGeom prst="line">
            <a:avLst/>
          </a:prstGeom>
          <a:noFill/>
          <a:ln w="10160">
            <a:solidFill>
              <a:srgbClr val="55A7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21408" y="2331720"/>
            <a:ext cx="0" cy="2057400"/>
          </a:xfrm>
          <a:prstGeom prst="line">
            <a:avLst/>
          </a:prstGeom>
          <a:noFill/>
          <a:ln w="10160">
            <a:solidFill>
              <a:srgbClr val="55A7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96896" y="2331720"/>
            <a:ext cx="0" cy="2057400"/>
          </a:xfrm>
          <a:prstGeom prst="line">
            <a:avLst/>
          </a:prstGeom>
          <a:noFill/>
          <a:ln w="10160">
            <a:solidFill>
              <a:srgbClr val="55A7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72384" y="2331720"/>
            <a:ext cx="0" cy="2057400"/>
          </a:xfrm>
          <a:prstGeom prst="line">
            <a:avLst/>
          </a:prstGeom>
          <a:noFill/>
          <a:ln w="10160">
            <a:solidFill>
              <a:srgbClr val="55A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47872" y="2331720"/>
            <a:ext cx="0" cy="2057400"/>
          </a:xfrm>
          <a:prstGeom prst="line">
            <a:avLst/>
          </a:prstGeom>
          <a:noFill/>
          <a:ln w="10160">
            <a:solidFill>
              <a:srgbClr val="55A7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331720"/>
            <a:ext cx="0" cy="2057400"/>
          </a:xfrm>
          <a:prstGeom prst="line">
            <a:avLst/>
          </a:prstGeom>
          <a:noFill/>
          <a:ln w="10160">
            <a:solidFill>
              <a:srgbClr val="55A7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2788920"/>
            <a:ext cx="640080" cy="411480"/>
          </a:xfrm>
          <a:prstGeom prst="rect">
            <a:avLst/>
          </a:prstGeom>
          <a:solidFill>
            <a:srgbClr val="FF6B81">
              <a:alpha val="92000"/>
            </a:srgbClr>
          </a:solidFill>
          <a:ln w="12700">
            <a:solidFill>
              <a:srgbClr val="FF6B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5321808"/>
            <a:ext cx="5486400" cy="0"/>
          </a:xfrm>
          <a:prstGeom prst="line">
            <a:avLst/>
          </a:prstGeom>
          <a:noFill/>
          <a:ln w="19050">
            <a:solidFill>
              <a:srgbClr val="19D7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1508760"/>
            <a:ext cx="2057400" cy="301752"/>
          </a:xfrm>
          <a:prstGeom prst="roundRect">
            <a:avLst>
              <a:gd name="adj" fmla="val 45455"/>
            </a:avLst>
          </a:prstGeom>
          <a:solidFill>
            <a:srgbClr val="343A55">
              <a:alpha val="92000"/>
            </a:srgbClr>
          </a:solidFill>
          <a:ln w="12700">
            <a:solidFill>
              <a:srgbClr val="343A55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91272" y="1559052"/>
            <a:ext cx="191109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B"/>
                </a:solidFill>
              </a:rPr>
              <a:t>JSON-сценарий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818120" y="2167128"/>
            <a:ext cx="2057400" cy="301752"/>
          </a:xfrm>
          <a:prstGeom prst="roundRect">
            <a:avLst>
              <a:gd name="adj" fmla="val 45455"/>
            </a:avLst>
          </a:prstGeom>
          <a:solidFill>
            <a:srgbClr val="343A55">
              <a:alpha val="92000"/>
            </a:srgbClr>
          </a:solidFill>
          <a:ln w="12700">
            <a:solidFill>
              <a:srgbClr val="343A55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91272" y="2217420"/>
            <a:ext cx="191109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B"/>
                </a:solidFill>
              </a:rPr>
              <a:t>критерий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18120" y="2825496"/>
            <a:ext cx="2057400" cy="301752"/>
          </a:xfrm>
          <a:prstGeom prst="roundRect">
            <a:avLst>
              <a:gd name="adj" fmla="val 45455"/>
            </a:avLst>
          </a:prstGeom>
          <a:solidFill>
            <a:srgbClr val="19D7C2">
              <a:alpha val="92000"/>
            </a:srgbClr>
          </a:solidFill>
          <a:ln w="12700">
            <a:solidFill>
              <a:srgbClr val="19D7C2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91272" y="2875788"/>
            <a:ext cx="191109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B"/>
                </a:solidFill>
              </a:rPr>
              <a:t>рассчитать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818120" y="3483864"/>
            <a:ext cx="2057400" cy="301752"/>
          </a:xfrm>
          <a:prstGeom prst="roundRect">
            <a:avLst>
              <a:gd name="adj" fmla="val 45455"/>
            </a:avLst>
          </a:prstGeom>
          <a:solidFill>
            <a:srgbClr val="343A55">
              <a:alpha val="92000"/>
            </a:srgbClr>
          </a:solidFill>
          <a:ln w="12700">
            <a:solidFill>
              <a:srgbClr val="343A55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91272" y="3534156"/>
            <a:ext cx="191109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B"/>
                </a:solidFill>
              </a:rPr>
              <a:t>экспорт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818120" y="4462272"/>
            <a:ext cx="342900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9C1D9"/>
                </a:solidFill>
              </a:rPr>
              <a:t>Веб-интерфейс позволяет менять входной сценарий, выбирать критерий оптимизации, рассчитывать маршруты и выгружать GeoJSON/KML без внешних картографических ключей.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D"/>
          </a:solidFill>
          <a:ln w="12700">
            <a:solidFill>
              <a:srgbClr val="171B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D7C2"/>
          </a:solidFill>
          <a:ln w="12700">
            <a:solidFill>
              <a:srgbClr val="19D7C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D7C2"/>
                </a:solidFill>
              </a:rPr>
              <a:t>ЛЦТ 2026 · Геоскан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</a:rPr>
              <a:t>Архитектура: простой запуск, понятные границы модулей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256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1D9"/>
                </a:solidFill>
              </a:rPr>
              <a:t>#ЕСТЬТАЛАНТ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2423160" cy="1508760"/>
          </a:xfrm>
          <a:prstGeom prst="roundRect">
            <a:avLst>
              <a:gd name="adj" fmla="val 4848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121408"/>
            <a:ext cx="20574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</a:rPr>
              <a:t>Frontend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50392" y="2587752"/>
            <a:ext cx="2057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D7C2"/>
                </a:solidFill>
              </a:rPr>
              <a:t>HTML/CSS/JS canvas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86968" y="2944368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9C1D9"/>
                </a:solidFill>
              </a:rPr>
              <a:t>визуализация зон и маршрутов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0" y="2633472"/>
            <a:ext cx="411480" cy="0"/>
          </a:xfrm>
          <a:prstGeom prst="line">
            <a:avLst/>
          </a:prstGeom>
          <a:noFill/>
          <a:ln w="17780">
            <a:solidFill>
              <a:srgbClr val="19D7C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20440" y="1874520"/>
            <a:ext cx="2423160" cy="1508760"/>
          </a:xfrm>
          <a:prstGeom prst="roundRect">
            <a:avLst>
              <a:gd name="adj" fmla="val 4848"/>
            </a:avLst>
          </a:prstGeom>
          <a:solidFill>
            <a:srgbClr val="19D7C2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121408"/>
            <a:ext cx="20574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B2D"/>
                </a:solidFill>
              </a:rPr>
              <a:t>FastAPI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85032" y="2587752"/>
            <a:ext cx="2057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1B2D"/>
                </a:solidFill>
              </a:rPr>
              <a:t>REST API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21608" y="2944368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1B2D"/>
                </a:solidFill>
              </a:rPr>
              <a:t>расчет и экспорт миссий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43600" y="2633472"/>
            <a:ext cx="411480" cy="0"/>
          </a:xfrm>
          <a:prstGeom prst="line">
            <a:avLst/>
          </a:prstGeom>
          <a:noFill/>
          <a:ln w="17780">
            <a:solidFill>
              <a:srgbClr val="19D7C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55080" y="1874520"/>
            <a:ext cx="2423160" cy="1508760"/>
          </a:xfrm>
          <a:prstGeom prst="roundRect">
            <a:avLst>
              <a:gd name="adj" fmla="val 4848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121408"/>
            <a:ext cx="20574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</a:rPr>
              <a:t>Planner Core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19672" y="2587752"/>
            <a:ext cx="2057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D7C2"/>
                </a:solidFill>
              </a:rPr>
              <a:t>geometry + optimization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56248" y="2944368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9C1D9"/>
                </a:solidFill>
              </a:rPr>
              <a:t>полосы, распределение, ограничения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778240" y="2633472"/>
            <a:ext cx="411480" cy="0"/>
          </a:xfrm>
          <a:prstGeom prst="line">
            <a:avLst/>
          </a:prstGeom>
          <a:noFill/>
          <a:ln w="17780">
            <a:solidFill>
              <a:srgbClr val="19D7C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89720" y="1874520"/>
            <a:ext cx="2423160" cy="1508760"/>
          </a:xfrm>
          <a:prstGeom prst="roundRect">
            <a:avLst>
              <a:gd name="adj" fmla="val 4848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54312" y="2121408"/>
            <a:ext cx="20574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B"/>
                </a:solidFill>
              </a:rPr>
              <a:t>Exporters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54312" y="2587752"/>
            <a:ext cx="20574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9D7C2"/>
                </a:solidFill>
              </a:rPr>
              <a:t>KML / GeoJSON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90888" y="2944368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9C1D9"/>
                </a:solidFill>
              </a:rPr>
              <a:t>файлы для полетного задания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417320" y="4370832"/>
            <a:ext cx="9372600" cy="841248"/>
          </a:xfrm>
          <a:prstGeom prst="roundRect">
            <a:avLst>
              <a:gd name="adj" fmla="val 8696"/>
            </a:avLst>
          </a:prstGeom>
          <a:solidFill>
            <a:srgbClr val="20253A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19072" y="4663440"/>
            <a:ext cx="87782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7FB"/>
                </a:solidFill>
              </a:rPr>
              <a:t>Запуск: docker compose up --build  →  http://localhost:8000  →  POST /api/plan  →  /api/export/kml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D"/>
          </a:solidFill>
          <a:ln w="12700">
            <a:solidFill>
              <a:srgbClr val="171B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D7C2"/>
          </a:solidFill>
          <a:ln w="12700">
            <a:solidFill>
              <a:srgbClr val="19D7C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D7C2"/>
                </a:solidFill>
              </a:rPr>
              <a:t>ЛЦТ 2026 · Геоскан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</a:rPr>
              <a:t>API и формат результата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256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1D9"/>
                </a:solidFill>
              </a:rPr>
              <a:t>#ЕСТЬТАЛАНТ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13232" y="1307592"/>
            <a:ext cx="5303520" cy="4407408"/>
          </a:xfrm>
          <a:prstGeom prst="roundRect">
            <a:avLst>
              <a:gd name="adj" fmla="val 1660"/>
            </a:avLst>
          </a:prstGeom>
          <a:solidFill>
            <a:srgbClr val="111827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0200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D7C2"/>
                </a:solidFill>
              </a:rPr>
              <a:t>POST /api/plan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2029968"/>
            <a:ext cx="43891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D1FAE5"/>
                </a:solidFill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FAE5"/>
                </a:solidFill>
              </a:rPr>
              <a:t>  "survey_type": "rgb",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FAE5"/>
                </a:solidFill>
              </a:rPr>
              <a:t>  "optimization": "balanced",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FAE5"/>
                </a:solidFill>
              </a:rPr>
              <a:t>  "constraints":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FAE5"/>
                </a:solidFill>
              </a:rPr>
              <a:t>    "max_work_time_min": 90,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FAE5"/>
                </a:solidFill>
              </a:rPr>
              <a:t>    "max_drones": 3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FAE5"/>
                </a:solidFill>
              </a:rPr>
              <a:t>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FAE5"/>
                </a:solidFill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82512" y="1307592"/>
            <a:ext cx="5120640" cy="4407408"/>
          </a:xfrm>
          <a:prstGeom prst="roundRect">
            <a:avLst>
              <a:gd name="adj" fmla="val 1660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700784"/>
            <a:ext cx="15087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D7C2"/>
                </a:solidFill>
              </a:rPr>
              <a:t>route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1700784"/>
            <a:ext cx="25603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9C1D9"/>
                </a:solidFill>
              </a:rPr>
              <a:t>LineString маршрута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2359152"/>
            <a:ext cx="15087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D7C2"/>
                </a:solidFill>
              </a:rPr>
              <a:t>waypoints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2359152"/>
            <a:ext cx="25603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9C1D9"/>
                </a:solidFill>
              </a:rPr>
              <a:t>ключевые точки и действия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20840" y="3017520"/>
            <a:ext cx="15087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D7C2"/>
                </a:solidFill>
              </a:rPr>
              <a:t>altitude/speed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3017520"/>
            <a:ext cx="25603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9C1D9"/>
                </a:solidFill>
              </a:rPr>
              <a:t>параметры выполнения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20840" y="3675888"/>
            <a:ext cx="15087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D7C2"/>
                </a:solidFill>
              </a:rPr>
              <a:t>work_time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0" y="3675888"/>
            <a:ext cx="25603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9C1D9"/>
                </a:solidFill>
              </a:rPr>
              <a:t>оценка времени миссии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4334256"/>
            <a:ext cx="15087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D7C2"/>
                </a:solidFill>
              </a:rPr>
              <a:t>feasibility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334256"/>
            <a:ext cx="25603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9C1D9"/>
                </a:solidFill>
              </a:rPr>
              <a:t>причины, если задача невозможна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D"/>
          </a:solidFill>
          <a:ln w="12700">
            <a:solidFill>
              <a:srgbClr val="171B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D7C2"/>
          </a:solidFill>
          <a:ln w="12700">
            <a:solidFill>
              <a:srgbClr val="19D7C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D7C2"/>
                </a:solidFill>
              </a:rPr>
              <a:t>ЛЦТ 2026 · Геоскан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</a:rPr>
              <a:t>Проверка качества: тесты + self-review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256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1D9"/>
                </a:solidFill>
              </a:rPr>
              <a:t>#ЕСТЬТАЛАНТ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325880"/>
            <a:ext cx="5074920" cy="1536192"/>
          </a:xfrm>
          <a:prstGeom prst="roundRect">
            <a:avLst>
              <a:gd name="adj" fmla="val 4762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27048"/>
            <a:ext cx="164592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Unit tests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70048" y="1527048"/>
            <a:ext cx="2468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9D7C2"/>
                </a:solidFill>
              </a:rPr>
              <a:t>4/4 passed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44805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9C1D9"/>
                </a:solidFill>
              </a:rPr>
              <a:t>геометрия, API, экспорт, ограничения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81928" y="1325880"/>
            <a:ext cx="5074920" cy="1536192"/>
          </a:xfrm>
          <a:prstGeom prst="roundRect">
            <a:avLst>
              <a:gd name="adj" fmla="val 4762"/>
            </a:avLst>
          </a:prstGeom>
          <a:solidFill>
            <a:srgbClr val="20253A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527048"/>
            <a:ext cx="164592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LLM-as-Judge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93608" y="1527048"/>
            <a:ext cx="2468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9D7C2"/>
                </a:solidFill>
              </a:rPr>
              <a:t>8.7/10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2148840"/>
            <a:ext cx="44805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9C1D9"/>
                </a:solidFill>
              </a:rPr>
              <a:t>найдены и закрыты риски по UX и запуску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3383280"/>
            <a:ext cx="5074920" cy="1536192"/>
          </a:xfrm>
          <a:prstGeom prst="roundRect">
            <a:avLst>
              <a:gd name="adj" fmla="val 4762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84448"/>
            <a:ext cx="164592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Runtime demo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70048" y="3584448"/>
            <a:ext cx="2468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9D7C2"/>
                </a:solidFill>
              </a:rPr>
              <a:t>FastAPI OK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44805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9C1D9"/>
                </a:solidFill>
              </a:rPr>
              <a:t>/api/health и расчет демо-сценария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81928" y="3383280"/>
            <a:ext cx="5074920" cy="1536192"/>
          </a:xfrm>
          <a:prstGeom prst="roundRect">
            <a:avLst>
              <a:gd name="adj" fmla="val 4762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3584448"/>
            <a:ext cx="164592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B"/>
                </a:solidFill>
              </a:rPr>
              <a:t>Docs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93608" y="3584448"/>
            <a:ext cx="2468880" cy="301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9D7C2"/>
                </a:solidFill>
              </a:rPr>
              <a:t>готово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37960" y="4206240"/>
            <a:ext cx="44805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9C1D9"/>
                </a:solidFill>
              </a:rPr>
              <a:t>README, API, user guide, limitations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" y="5779008"/>
            <a:ext cx="102412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1D9"/>
                </a:solidFill>
              </a:rPr>
              <a:t>Что проверяли: отсутствие падений API, корректность GeoJSON/KML, соблюдение дедлайна, резервные площадки, отсутствие внешних зависимостей в UI.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D"/>
          </a:solidFill>
          <a:ln w="12700">
            <a:solidFill>
              <a:srgbClr val="171B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D7C2"/>
          </a:solidFill>
          <a:ln w="12700">
            <a:solidFill>
              <a:srgbClr val="19D7C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D7C2"/>
                </a:solidFill>
              </a:rPr>
              <a:t>ЛЦТ 2026 · Геоскан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</a:rPr>
              <a:t>Почему решение может выиграть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256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1D9"/>
                </a:solidFill>
              </a:rPr>
              <a:t>#ЕСТЬТАЛАНТ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55064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D7C2"/>
                </a:solidFill>
              </a:rPr>
              <a:t>Не просто карта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185416"/>
            <a:ext cx="4023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9C1D9"/>
                </a:solidFill>
              </a:rPr>
              <a:t>есть расчет реализуемости и ресурсов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655064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D7C2"/>
                </a:solidFill>
              </a:rPr>
              <a:t>Под задачу Геоскана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185416"/>
            <a:ext cx="4023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9C1D9"/>
                </a:solidFill>
              </a:rPr>
              <a:t>учтены типы съемки, БВС, KML/GeoJSON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33756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575304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D7C2"/>
                </a:solidFill>
              </a:rPr>
              <a:t>Показывает инженерность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4105656"/>
            <a:ext cx="4023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9C1D9"/>
                </a:solidFill>
              </a:rPr>
              <a:t>алгоритм покрытия, назначение, обход запретов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33756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575304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D7C2"/>
                </a:solidFill>
              </a:rPr>
              <a:t>Готово к развитию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7960" y="4105656"/>
            <a:ext cx="4023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9C1D9"/>
                </a:solidFill>
              </a:rPr>
              <a:t>подключаются реальные камеры, карты, PX4/Clover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08760" y="5504688"/>
            <a:ext cx="9144000" cy="585216"/>
          </a:xfrm>
          <a:prstGeom prst="roundRect">
            <a:avLst>
              <a:gd name="adj" fmla="val 12500"/>
            </a:avLst>
          </a:prstGeom>
          <a:solidFill>
            <a:srgbClr val="19D7C2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5705856"/>
            <a:ext cx="8595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B2D"/>
                </a:solidFill>
              </a:rPr>
              <a:t>AeroMission Planner закрывает полный путь: заявка → оптимизация → индивидуальные миссии БВС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D"/>
          </a:solidFill>
          <a:ln w="12700">
            <a:solidFill>
              <a:srgbClr val="171B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D7C2"/>
          </a:solidFill>
          <a:ln w="12700">
            <a:solidFill>
              <a:srgbClr val="19D7C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D7C2"/>
                </a:solidFill>
              </a:rPr>
              <a:t>ЛЦТ 2026 · Геоскан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7FB"/>
                </a:solidFill>
              </a:rPr>
              <a:t>Состав сдачи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0" y="2560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9C1D9"/>
                </a:solidFill>
              </a:rPr>
              <a:t>#ЕСТЬТАЛАНТ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19D7C2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1B2D"/>
                </a:solidFill>
              </a:rPr>
              <a:t>Репозиторий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221992"/>
            <a:ext cx="3657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1B2D"/>
                </a:solidFill>
              </a:rPr>
              <a:t>исходный код, Docker, тесты, CI, README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19072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</a:rPr>
              <a:t>Документация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221992"/>
            <a:ext cx="3657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9C1D9"/>
                </a:solidFill>
              </a:rPr>
              <a:t>архитектура, API, запуск, сценарии, ограничения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329184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547872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</a:rPr>
              <a:t>Презентация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4050792"/>
            <a:ext cx="3657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9C1D9"/>
                </a:solidFill>
              </a:rPr>
              <a:t>12 слайдов с сутью решения и демонстрацией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29184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2A3048"/>
          </a:solidFill>
          <a:ln w="10160">
            <a:solidFill>
              <a:srgbClr val="4A526E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547872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</a:rPr>
              <a:t>Прототип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4050792"/>
            <a:ext cx="3657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9C1D9"/>
                </a:solidFill>
              </a:rPr>
              <a:t>локальный FastAPI + браузерный интерфейс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40480" y="5715000"/>
            <a:ext cx="44805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7FB"/>
                </a:solidFill>
              </a:rPr>
              <a:t>Команда #ЕСТЬТАЛАНТ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800600" y="6236208"/>
            <a:ext cx="2606040" cy="301752"/>
          </a:xfrm>
          <a:prstGeom prst="roundRect">
            <a:avLst>
              <a:gd name="adj" fmla="val 45455"/>
            </a:avLst>
          </a:prstGeom>
          <a:solidFill>
            <a:srgbClr val="19D7C2">
              <a:alpha val="92000"/>
            </a:srgbClr>
          </a:solidFill>
          <a:ln w="12700">
            <a:solidFill>
              <a:srgbClr val="19D7C2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6286500"/>
            <a:ext cx="2459736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F7FB"/>
                </a:solidFill>
              </a:rPr>
              <a:t>готово к проверке жюри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#ЕСТЬТАЛАНТ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AeroMission Planner</dc:title>
  <dc:subject>AeroMission Planner — сервис планирования и распределения БАС-работ</dc:subject>
  <dc:creator>#ЕСТЬТАЛАНТ</dc:creator>
  <cp:lastModifiedBy>#ЕСТЬТАЛАНТ</cp:lastModifiedBy>
  <cp:revision>1</cp:revision>
  <dcterms:created xsi:type="dcterms:W3CDTF">2026-09-29T15:23:16Z</dcterms:created>
  <dcterms:modified xsi:type="dcterms:W3CDTF">2026-09-29T15:23:16Z</dcterms:modified>
</cp:coreProperties>
</file>